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8046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5F9FF"/>
                </a:solidFill>
                <a:latin typeface="Aptos"/>
              </a:rPr>
              <a:t>METEO-RISK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0CDFF"/>
                </a:solidFill>
                <a:latin typeface="Aptos"/>
              </a:rPr>
              <a:t>AI Flood Early Warning &amp; Incident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BB8D1"/>
                </a:solidFill>
                <a:latin typeface="Aptos"/>
              </a:rPr>
              <a:t>De la détection hydrométéorologique à la clôture automatique de l’incident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868680"/>
            <a:ext cx="3520440" cy="114300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0" y="868680"/>
            <a:ext cx="50292" cy="1143000"/>
          </a:xfrm>
          <a:prstGeom prst="rect">
            <a:avLst/>
          </a:prstGeom>
          <a:solidFill>
            <a:srgbClr val="30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5008" y="1033271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01  DÉTECTER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144475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Météo + capteur IoT + prévisions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212848"/>
            <a:ext cx="3520440" cy="114300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2212848"/>
            <a:ext cx="50292" cy="1143000"/>
          </a:xfrm>
          <a:prstGeom prst="rect">
            <a:avLst/>
          </a:prstGeom>
          <a:solidFill>
            <a:srgbClr val="FFC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23774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02  DÉCIDER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78892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Risk score + classification 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557016"/>
            <a:ext cx="3520440" cy="114300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3557016"/>
            <a:ext cx="50292" cy="1143000"/>
          </a:xfrm>
          <a:prstGeom prst="rect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372160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03  AGIR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413308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Incident + intervention + notifications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901184"/>
            <a:ext cx="3520440" cy="114300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4901184"/>
            <a:ext cx="50292" cy="1143000"/>
          </a:xfrm>
          <a:prstGeom prst="rect">
            <a:avLst/>
          </a:prstGeom>
          <a:solidFill>
            <a:srgbClr val="31E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5065776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04  CLÔTURER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5477256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Recovery + rapport IA + traçabilité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70448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Casablanca • Prototype opérationnel •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B8D1"/>
                </a:solidFill>
                <a:latin typeface="Aptos"/>
              </a:rPr>
              <a:t>METEO-RISK AI  •  AI Flood Early Warning &amp; Incident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65105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BB8D1"/>
                </a:solidFill>
                <a:latin typeface="Aptos"/>
              </a:rPr>
              <a:t>Projet de démonstration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Le problème à résoudre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BB8D1"/>
                </a:solidFill>
                <a:latin typeface="Aptos"/>
              </a:rPr>
              <a:t>Une gestion d’alerte inondation souvent fragmentée, lente et difficile à tracer.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BB8D1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98448"/>
            <a:ext cx="1051560" cy="32004"/>
          </a:xfrm>
          <a:prstGeom prst="rect">
            <a:avLst/>
          </a:prstGeom>
          <a:solidFill>
            <a:srgbClr val="30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82880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50292" cy="1828800"/>
          </a:xfrm>
          <a:prstGeom prst="rect">
            <a:avLst/>
          </a:prstGeom>
          <a:solidFill>
            <a:srgbClr val="30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64792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DONNÉES DISPERSÉES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76272"/>
            <a:ext cx="3108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Météo, prévisions, niveau d’eau et observations terrain ne sont pas toujours réunis dans une vue unique.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82880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50292" cy="1828800"/>
          </a:xfrm>
          <a:prstGeom prst="rect">
            <a:avLst/>
          </a:prstGeom>
          <a:solidFill>
            <a:srgbClr val="FFC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64792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DÉCISION TARDIVE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76272"/>
            <a:ext cx="3108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Sans scoring automatique, la qualification du risque dépend d’analyses manuelles et de seuils isolés.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82880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50292" cy="1828800"/>
          </a:xfrm>
          <a:prstGeom prst="rect">
            <a:avLst/>
          </a:prstGeom>
          <a:solidFill>
            <a:srgbClr val="FF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64792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SUIVI PEU TRAÇABLE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76272"/>
            <a:ext cx="3108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Alertes, interventions, historique, récupération et rapports peuvent être répartis entre plusieurs outils.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97763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9FF"/>
                </a:solidFill>
                <a:latin typeface="Aptos"/>
              </a:rPr>
              <a:t>Objectif du projet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9884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BB8D1"/>
                </a:solidFill>
                <a:latin typeface="Aptos"/>
              </a:rPr>
              <a:t>Créer une chaîne de décision continue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56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Aptos"/>
              </a:rPr>
              <a:t>Données → Risque → Alerte → Incident → Intervention → Recovery → Clôture → Rapport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B8D1"/>
                </a:solidFill>
                <a:latin typeface="Aptos"/>
              </a:rPr>
              <a:t>METEO-RISK AI  •  AI Flood Early Warning &amp; Incident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65105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BB8D1"/>
                </a:solidFill>
                <a:latin typeface="Aptos"/>
              </a:rPr>
              <a:t>Projet de démonstration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Architecture de 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BB8D1"/>
                </a:solidFill>
                <a:latin typeface="Aptos"/>
              </a:rPr>
              <a:t>Un pipeline automatisé qui combine données, logique métier, IA, stockage et communication.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BB8D1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98448"/>
            <a:ext cx="1051560" cy="32004"/>
          </a:xfrm>
          <a:prstGeom prst="rect">
            <a:avLst/>
          </a:prstGeom>
          <a:solidFill>
            <a:srgbClr val="30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572768" cy="205740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0CD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9FF"/>
                </a:solidFill>
                <a:latin typeface="Aptos"/>
              </a:rPr>
              <a:t>COLLECTE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2984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BB8D1"/>
                </a:solidFill>
                <a:latin typeface="Aptos"/>
              </a:rPr>
              <a:t>API météo
Capteur IoT simulé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2" y="27889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BB8D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2057400"/>
            <a:ext cx="1572768" cy="205740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22128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0CD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9748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9FF"/>
                </a:solidFill>
                <a:latin typeface="Aptos"/>
              </a:rPr>
              <a:t>ANALYSE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00400"/>
            <a:ext cx="12984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BB8D1"/>
                </a:solidFill>
                <a:latin typeface="Aptos"/>
              </a:rPr>
              <a:t>Fusion des données
Risk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27889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BB8D1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057400"/>
            <a:ext cx="1572768" cy="205740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2128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0CD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69748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9FF"/>
                </a:solidFill>
                <a:latin typeface="Aptos"/>
              </a:rPr>
              <a:t>DÉCISION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200400"/>
            <a:ext cx="12984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BB8D1"/>
                </a:solidFill>
                <a:latin typeface="Aptos"/>
              </a:rPr>
              <a:t>LOW / MEDIUM
HIGH / 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27889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BB8D1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057400"/>
            <a:ext cx="1572768" cy="205740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2128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0CD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9748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9FF"/>
                </a:solidFill>
                <a:latin typeface="Aptos"/>
              </a:rPr>
              <a:t>OPÉRATIONS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00400"/>
            <a:ext cx="12984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BB8D1"/>
                </a:solidFill>
                <a:latin typeface="Aptos"/>
              </a:rPr>
              <a:t>Incident
Intervention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27889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BB8D1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2057400"/>
            <a:ext cx="1572768" cy="205740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22128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0CD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69748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9FF"/>
                </a:solidFill>
                <a:latin typeface="Aptos"/>
              </a:rPr>
              <a:t>TRAÇABILITÉ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200400"/>
            <a:ext cx="12984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BB8D1"/>
                </a:solidFill>
                <a:latin typeface="Aptos"/>
              </a:rPr>
              <a:t>MongoDB
Historique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27889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BB8D1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4120" y="2057400"/>
            <a:ext cx="1572768" cy="205740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0" y="221284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0CD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269748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9FF"/>
                </a:solidFill>
                <a:latin typeface="Aptos"/>
              </a:rPr>
              <a:t>COMMUNICATION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3200400"/>
            <a:ext cx="12984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BB8D1"/>
                </a:solidFill>
                <a:latin typeface="Aptos"/>
              </a:rPr>
              <a:t>Dashboard
Slack + Gmail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1E084"/>
                </a:solidFill>
                <a:latin typeface="Aptos"/>
              </a:rPr>
              <a:t>Principe clé : une seule source de vérité pour l’état courant de l’incident.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B8D1"/>
                </a:solidFill>
                <a:latin typeface="Aptos"/>
              </a:rPr>
              <a:t>METEO-RISK AI  •  AI Flood Early Warning &amp; Incident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65105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BB8D1"/>
                </a:solidFill>
                <a:latin typeface="Aptos"/>
              </a:rPr>
              <a:t>Projet de démonstration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Processus initial — AS-IS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BB8D1"/>
                </a:solidFill>
                <a:latin typeface="Aptos"/>
              </a:rPr>
              <a:t>Le BPMN met en évidence les étapes manuelles et les points de décision avant automatisation.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BB8D1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98448"/>
            <a:ext cx="1051560" cy="32004"/>
          </a:xfrm>
          <a:prstGeom prst="rect">
            <a:avLst/>
          </a:prstGeom>
          <a:solidFill>
            <a:srgbClr val="30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572768"/>
            <a:ext cx="10972800" cy="4480560"/>
          </a:xfrm>
          <a:prstGeom prst="roundRect">
            <a:avLst/>
          </a:prstGeom>
          <a:solidFill>
            <a:srgbClr val="081928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pmn as 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975" y="1645920"/>
            <a:ext cx="8989568" cy="43342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" y="1719072"/>
            <a:ext cx="1417320" cy="310896"/>
          </a:xfrm>
          <a:prstGeom prst="roundRect">
            <a:avLst/>
          </a:prstGeom>
          <a:solidFill>
            <a:srgbClr val="051220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76479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F9FF"/>
                </a:solidFill>
                <a:latin typeface="Aptos"/>
              </a:rPr>
              <a:t>BPMN AS-IS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B8D1"/>
                </a:solidFill>
                <a:latin typeface="Aptos"/>
              </a:rPr>
              <a:t>METEO-RISK AI  •  AI Flood Early Warning &amp; Incident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65105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BB8D1"/>
                </a:solidFill>
                <a:latin typeface="Aptos"/>
              </a:rPr>
              <a:t>Projet de démonstration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Processus cible — TO-BE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BB8D1"/>
                </a:solidFill>
                <a:latin typeface="Aptos"/>
              </a:rPr>
              <a:t>Le processus final couvre la surveillance, l’incident, l’intervention, la récupération et le rapport.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BB8D1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98448"/>
            <a:ext cx="1051560" cy="32004"/>
          </a:xfrm>
          <a:prstGeom prst="rect">
            <a:avLst/>
          </a:prstGeom>
          <a:solidFill>
            <a:srgbClr val="30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1155680" cy="4526280"/>
          </a:xfrm>
          <a:prstGeom prst="roundRect">
            <a:avLst/>
          </a:prstGeom>
          <a:solidFill>
            <a:srgbClr val="081928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7f49888-0e4d-4987-9240-154bea46fb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718" y="1581912"/>
            <a:ext cx="9298082" cy="43799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7512" y="1655063"/>
            <a:ext cx="1417320" cy="310896"/>
          </a:xfrm>
          <a:prstGeom prst="roundRect">
            <a:avLst/>
          </a:prstGeom>
          <a:solidFill>
            <a:srgbClr val="051220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0078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F9FF"/>
                </a:solidFill>
                <a:latin typeface="Aptos"/>
              </a:rPr>
              <a:t>BPMN TO-BE 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B8D1"/>
                </a:solidFill>
                <a:latin typeface="Aptos"/>
              </a:rPr>
              <a:t>METEO-RISK AI  •  AI Flood Early Warning &amp; Incident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65105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BB8D1"/>
                </a:solidFill>
                <a:latin typeface="Aptos"/>
              </a:rPr>
              <a:t>Projet de démonstration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9FF"/>
                </a:solidFill>
                <a:latin typeface="Aptos"/>
              </a:rPr>
              <a:t>Workflow d’automatisation METEO-RISK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77824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Orchestration complète : collecte, analyse du risque, incident, intervention, recovery, clôture et notifications.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BB8D1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43584"/>
            <a:ext cx="1051560" cy="32004"/>
          </a:xfrm>
          <a:prstGeom prst="rect">
            <a:avLst/>
          </a:prstGeom>
          <a:solidFill>
            <a:srgbClr val="30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" y="1417320"/>
            <a:ext cx="11311128" cy="484632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pture d'écran 2026-08-15 155750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196" y="1508760"/>
            <a:ext cx="10024560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510528"/>
            <a:ext cx="7863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B8D1"/>
                </a:solidFill>
                <a:latin typeface="Aptos"/>
              </a:rPr>
              <a:t>METEO-RISK AI  •  AI Flood Early Warning &amp; Incident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BB8D1"/>
                </a:solidFill>
                <a:latin typeface="Aptos"/>
              </a:rPr>
              <a:t>Projet de démonstration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9FF"/>
                </a:solidFill>
                <a:latin typeface="Aptos"/>
              </a:rPr>
              <a:t>Dashboard opérationnel — état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77824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Vue consolidée après récupération : risque LOW, niveau d’eau normalisé, incident CLOSED et rapport IA disponible.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BB8D1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43584"/>
            <a:ext cx="1051560" cy="32004"/>
          </a:xfrm>
          <a:prstGeom prst="rect">
            <a:avLst/>
          </a:prstGeom>
          <a:solidFill>
            <a:srgbClr val="30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55680" cy="224028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e86305e-8413-41ea-864c-b5010be520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794" y="1472184"/>
            <a:ext cx="4279930" cy="21305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527048"/>
            <a:ext cx="1920240" cy="274320"/>
          </a:xfrm>
          <a:prstGeom prst="roundRect">
            <a:avLst/>
          </a:prstGeom>
          <a:solidFill>
            <a:srgbClr val="051220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72768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5F9FF"/>
                </a:solidFill>
                <a:latin typeface="Aptos"/>
              </a:rPr>
              <a:t>SYNTHÈSE &amp; MONITORING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67328"/>
            <a:ext cx="11155680" cy="233172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f8c3d2f-b52f-4b36-9b85-0ef22a395f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104" y="3822191"/>
            <a:ext cx="4421310" cy="222199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0080" y="3877056"/>
            <a:ext cx="1920240" cy="274320"/>
          </a:xfrm>
          <a:prstGeom prst="roundRect">
            <a:avLst/>
          </a:prstGeom>
          <a:solidFill>
            <a:srgbClr val="051220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922776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5F9FF"/>
                </a:solidFill>
                <a:latin typeface="Aptos"/>
              </a:rPr>
              <a:t>INCIDENT, TIMELINE &amp; RAPPORT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7863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B8D1"/>
                </a:solidFill>
                <a:latin typeface="Aptos"/>
              </a:rPr>
              <a:t>METEO-RISK AI  •  AI Flood Early Warning &amp; Incident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65105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BB8D1"/>
                </a:solidFill>
                <a:latin typeface="Aptos"/>
              </a:rPr>
              <a:t>Projet de démonstration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Traçabilité et persistance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BB8D1"/>
                </a:solidFill>
                <a:latin typeface="Aptos"/>
              </a:rPr>
              <a:t>Chaque incident conserve son identité, son intervention, son état et son historique.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BB8D1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98448"/>
            <a:ext cx="1051560" cy="32004"/>
          </a:xfrm>
          <a:prstGeom prst="rect">
            <a:avLst/>
          </a:prstGeom>
          <a:solidFill>
            <a:srgbClr val="30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7498079" cy="4480560"/>
          </a:xfrm>
          <a:prstGeom prst="roundRect">
            <a:avLst/>
          </a:prstGeom>
          <a:solidFill>
            <a:srgbClr val="081928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0e9457f-2f0b-4104-a80e-159b19dee8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36754"/>
            <a:ext cx="7351775" cy="362457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" y="1655063"/>
            <a:ext cx="1417320" cy="310896"/>
          </a:xfrm>
          <a:prstGeom prst="roundRect">
            <a:avLst/>
          </a:prstGeom>
          <a:solidFill>
            <a:srgbClr val="051220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0078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F9FF"/>
                </a:solidFill>
                <a:latin typeface="Aptos"/>
              </a:rPr>
              <a:t>MONGODB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27632"/>
            <a:ext cx="3246120" cy="109728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1627632"/>
            <a:ext cx="50292" cy="1097280"/>
          </a:xfrm>
          <a:prstGeom prst="rect">
            <a:avLst/>
          </a:prstGeom>
          <a:solidFill>
            <a:srgbClr val="30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1792224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INCIDENT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2203704"/>
            <a:ext cx="288036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Identifiant unique conservé pendant tout le cycle.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880360"/>
            <a:ext cx="3246120" cy="109728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2880360"/>
            <a:ext cx="50292" cy="1097280"/>
          </a:xfrm>
          <a:prstGeom prst="rect">
            <a:avLst/>
          </a:prstGeom>
          <a:solidFill>
            <a:srgbClr val="FFC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304495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HISTORIQUE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3456432"/>
            <a:ext cx="288036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IN_PROGRESS → COMPLETED → RESOLVED → CLOSED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133087"/>
            <a:ext cx="3246120" cy="109728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4133087"/>
            <a:ext cx="50292" cy="1097280"/>
          </a:xfrm>
          <a:prstGeom prst="rect">
            <a:avLst/>
          </a:prstGeom>
          <a:solidFill>
            <a:srgbClr val="31E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4297679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4709159"/>
            <a:ext cx="288036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Données météo, capteur, récupération et rapport.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B8D1"/>
                </a:solidFill>
                <a:latin typeface="Aptos"/>
              </a:rPr>
              <a:t>METEO-RISK AI  •  AI Flood Early Warning &amp; Incident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65105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BB8D1"/>
                </a:solidFill>
                <a:latin typeface="Aptos"/>
              </a:rPr>
              <a:t>Projet de démonstration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Notifications multicanales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BB8D1"/>
                </a:solidFill>
                <a:latin typeface="Aptos"/>
              </a:rPr>
              <a:t>Les équipes reçoivent l’information au bon moment, avec le bon niveau de priorité.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BB8D1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98448"/>
            <a:ext cx="1051560" cy="32004"/>
          </a:xfrm>
          <a:prstGeom prst="rect">
            <a:avLst/>
          </a:prstGeom>
          <a:solidFill>
            <a:srgbClr val="30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5486400" cy="4251960"/>
          </a:xfrm>
          <a:prstGeom prst="roundRect">
            <a:avLst/>
          </a:prstGeom>
          <a:solidFill>
            <a:srgbClr val="081928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pture d'écran 2026-08-15 155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349940"/>
            <a:ext cx="5340096" cy="269761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" y="1719072"/>
            <a:ext cx="1417320" cy="310896"/>
          </a:xfrm>
          <a:prstGeom prst="roundRect">
            <a:avLst/>
          </a:prstGeom>
          <a:solidFill>
            <a:srgbClr val="051220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6479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F9FF"/>
                </a:solidFill>
                <a:latin typeface="Aptos"/>
              </a:rPr>
              <a:t>SLACK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72768"/>
            <a:ext cx="5440680" cy="4251960"/>
          </a:xfrm>
          <a:prstGeom prst="roundRect">
            <a:avLst/>
          </a:prstGeom>
          <a:solidFill>
            <a:srgbClr val="081928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36792" y="1719072"/>
            <a:ext cx="1417320" cy="310896"/>
          </a:xfrm>
          <a:prstGeom prst="roundRect">
            <a:avLst/>
          </a:prstGeom>
          <a:solidFill>
            <a:srgbClr val="051220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76479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F9FF"/>
                </a:solidFill>
                <a:latin typeface="Aptos"/>
              </a:rPr>
              <a:t>GMAIL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F9FF"/>
                </a:solidFill>
                <a:latin typeface="Aptos"/>
              </a:rPr>
              <a:t>Alerte • Affectation • Recovery • Clôture • Rapport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B8D1"/>
                </a:solidFill>
                <a:latin typeface="Aptos"/>
              </a:rPr>
              <a:t>METEO-RISK AI  •  AI Flood Early Warning &amp; Incident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65105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BB8D1"/>
                </a:solidFill>
                <a:latin typeface="Aptos"/>
              </a:rPr>
              <a:t>Projet de démonstration</a:t>
            </a:r>
          </a:p>
        </p:txBody>
      </p:sp>
      <p:pic>
        <p:nvPicPr>
          <p:cNvPr id="18" name="Picture 17" descr="Capture d'écran 2026-08-15 155717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459514"/>
            <a:ext cx="5294376" cy="24784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Scénario de démonstration validé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BB8D1"/>
                </a:solidFill>
                <a:latin typeface="Aptos"/>
              </a:rPr>
              <a:t>Un incident CRITICAL est suivi jusqu’au retour à la normale.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BB8D1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98448"/>
            <a:ext cx="1051560" cy="32004"/>
          </a:xfrm>
          <a:prstGeom prst="rect">
            <a:avLst/>
          </a:prstGeom>
          <a:solidFill>
            <a:srgbClr val="30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965960" cy="2606040"/>
          </a:xfrm>
          <a:prstGeom prst="roundRect">
            <a:avLst/>
          </a:prstGeom>
          <a:solidFill>
            <a:srgbClr val="0D2234"/>
          </a:solidFill>
          <a:ln>
            <a:solidFill>
              <a:srgbClr val="FF4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7627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4D5E"/>
                </a:solidFill>
                <a:latin typeface="Aptos"/>
              </a:rPr>
              <a:t>15:15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9FF"/>
                </a:solidFill>
                <a:latin typeface="Aptos"/>
              </a:rP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42900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BB8D1"/>
                </a:solidFill>
                <a:latin typeface="Aptos"/>
              </a:rPr>
              <a:t>95 cm
RISING_FAST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06324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BB8D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965960"/>
            <a:ext cx="1965960" cy="2606040"/>
          </a:xfrm>
          <a:prstGeom prst="roundRect">
            <a:avLst/>
          </a:prstGeom>
          <a:solidFill>
            <a:srgbClr val="0D2234"/>
          </a:solidFill>
          <a:ln>
            <a:solidFill>
              <a:srgbClr val="FF8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217627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8B3D"/>
                </a:solidFill>
                <a:latin typeface="Aptos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9FF"/>
                </a:solidFill>
                <a:latin typeface="Aptos"/>
              </a:rPr>
              <a:t>INTERVENTION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42900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BB8D1"/>
                </a:solidFill>
                <a:latin typeface="Aptos"/>
              </a:rPr>
              <a:t>Emergency Response Team
IMMEDIATE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306324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BB8D1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1496" y="1965960"/>
            <a:ext cx="1965960" cy="2606040"/>
          </a:xfrm>
          <a:prstGeom prst="roundRect">
            <a:avLst/>
          </a:prstGeom>
          <a:solidFill>
            <a:srgbClr val="0D2234"/>
          </a:solidFill>
          <a:ln>
            <a:solidFill>
              <a:srgbClr val="FFC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217627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C13E"/>
                </a:solidFill>
                <a:latin typeface="Aptos"/>
              </a:rPr>
              <a:t>15:30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9FF"/>
                </a:solidFill>
                <a:latin typeface="Aptos"/>
              </a:rPr>
              <a:t>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342900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BB8D1"/>
                </a:solidFill>
                <a:latin typeface="Aptos"/>
              </a:rPr>
              <a:t>60 cm
FALLING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7456" y="306324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BB8D1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5784" y="1965960"/>
            <a:ext cx="1965960" cy="2606040"/>
          </a:xfrm>
          <a:prstGeom prst="roundRect">
            <a:avLst/>
          </a:prstGeom>
          <a:solidFill>
            <a:srgbClr val="0D2234"/>
          </a:solidFill>
          <a:ln>
            <a:solidFill>
              <a:srgbClr val="31E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4" y="217627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1E084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6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9FF"/>
                </a:solidFill>
                <a:latin typeface="Aptos"/>
              </a:rPr>
              <a:t>CLOSED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6" y="342900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BB8D1"/>
                </a:solidFill>
                <a:latin typeface="Aptos"/>
              </a:rPr>
              <a:t>Risk LOW
Intervention COMPLETED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306324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BB8D1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0072" y="1965960"/>
            <a:ext cx="1965960" cy="2606040"/>
          </a:xfrm>
          <a:prstGeom prst="roundRect">
            <a:avLst/>
          </a:prstGeom>
          <a:solidFill>
            <a:srgbClr val="0D2234"/>
          </a:solidFill>
          <a:ln>
            <a:solidFill>
              <a:srgbClr val="30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2952" y="217627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0CDFF"/>
                </a:solidFill>
                <a:latin typeface="Aptos"/>
              </a:rPr>
              <a:t>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4664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9FF"/>
                </a:solidFill>
                <a:latin typeface="Aptos"/>
              </a:rP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84664" y="342900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BB8D1"/>
                </a:solidFill>
                <a:latin typeface="Aptos"/>
              </a:rPr>
              <a:t>Rapport de clôture
généré automatiquement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16636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9FF"/>
                </a:solidFill>
                <a:latin typeface="Aptos"/>
              </a:rPr>
              <a:t>Résultat : l’incident garde le même ID jusqu’à la clôture, puis le système produit et diffuse le rapport final.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B8D1"/>
                </a:solidFill>
                <a:latin typeface="Aptos"/>
              </a:rPr>
              <a:t>METEO-RISK AI  •  AI Flood Early Warning &amp; Incident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65105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BB8D1"/>
                </a:solidFill>
                <a:latin typeface="Aptos"/>
              </a:rPr>
              <a:t>Projet de démonstration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Valeur apportée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BB8D1"/>
                </a:solidFill>
                <a:latin typeface="Aptos"/>
              </a:rPr>
              <a:t>METEO-RISK AI transforme une suite d’outils en processus opérationnel cohérent.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BB8D1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98448"/>
            <a:ext cx="1051560" cy="32004"/>
          </a:xfrm>
          <a:prstGeom prst="rect">
            <a:avLst/>
          </a:prstGeom>
          <a:solidFill>
            <a:srgbClr val="30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429000" cy="141732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0292" cy="1417320"/>
          </a:xfrm>
          <a:prstGeom prst="rect">
            <a:avLst/>
          </a:prstGeom>
          <a:solidFill>
            <a:srgbClr val="30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562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RÉACTIVITÉ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67712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Détection et classification automatiques pour accélérer la prise de décision.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29000" cy="141732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50292" cy="1417320"/>
          </a:xfrm>
          <a:prstGeom prst="rect">
            <a:avLst/>
          </a:prstGeom>
          <a:solidFill>
            <a:srgbClr val="FFC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8562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COORDINATION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67712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Même statut partagé entre dashboard, base, notifications et équipes.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429000" cy="141732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50292" cy="1417320"/>
          </a:xfrm>
          <a:prstGeom prst="rect">
            <a:avLst/>
          </a:prstGeom>
          <a:solidFill>
            <a:srgbClr val="31E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8562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TRAÇABILITÉ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267712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Historique complet de l’incident et rapport de clôture généré par 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947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9FF"/>
                </a:solidFill>
                <a:latin typeface="Aptos"/>
              </a:rPr>
              <a:t>Prochaines évolutions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43400"/>
            <a:ext cx="6583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BB8D1"/>
                </a:solidFill>
                <a:latin typeface="Aptos"/>
              </a:rPr>
              <a:t>• Remplacer le capteur simulé par un capteur IoT réel
• Ajouter plusieurs zones et capteurs
• Calibrer le score avec des données historiques
• Ajouter cartes, prévisions avancées et KPI opérationnels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023360"/>
            <a:ext cx="3200400" cy="1417320"/>
          </a:xfrm>
          <a:prstGeom prst="roundRect">
            <a:avLst/>
          </a:prstGeom>
          <a:solidFill>
            <a:srgbClr val="0D2234"/>
          </a:solidFill>
          <a:ln>
            <a:solidFill>
              <a:srgbClr val="22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4023360"/>
            <a:ext cx="50292" cy="141732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418795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4599432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BB8D1"/>
                </a:solidFill>
                <a:latin typeface="Aptos"/>
              </a:rPr>
              <a:t>Un centre de commandement intelligent pour anticiper, agir et apprendre de chaque incident.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B8D1"/>
                </a:solidFill>
                <a:latin typeface="Aptos"/>
              </a:rPr>
              <a:t>METEO-RISK AI  •  AI Flood Early Warning &amp; Incident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65105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BB8D1"/>
                </a:solidFill>
                <a:latin typeface="Aptos"/>
              </a:rPr>
              <a:t>Projet de démonstration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5F9FF"/>
                </a:solidFill>
                <a:latin typeface="Aptos"/>
              </a:rPr>
              <a:t>METEO-RISK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0CDFF"/>
                </a:solidFill>
                <a:latin typeface="Aptos"/>
              </a:rPr>
              <a:t>Détecter plus tôt. Décider plus vite. Tracer chaque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71800"/>
            <a:ext cx="9966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BB8D1"/>
                </a:solidFill>
                <a:latin typeface="Aptos"/>
              </a:rPr>
              <a:t>Prototype démontré : collecte → scoring → alerte → incident → intervention → recovery → clôture → rapport 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4160520"/>
            <a:ext cx="3703320" cy="822960"/>
          </a:xfrm>
          <a:prstGeom prst="roundRect">
            <a:avLst/>
          </a:prstGeom>
          <a:solidFill>
            <a:srgbClr val="0D2234"/>
          </a:solidFill>
          <a:ln>
            <a:solidFill>
              <a:srgbClr val="31E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4416552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1E084"/>
                </a:solidFill>
                <a:latin typeface="Aptos"/>
              </a:rPr>
              <a:t>MERCI — QUESTIONS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BB8D1"/>
                </a:solidFill>
                <a:latin typeface="Aptos"/>
              </a:rPr>
              <a:t>METEO-RISK AI  •  AI Flood Early Warning &amp; Incident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65105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BB8D1"/>
                </a:solidFill>
                <a:latin typeface="Aptos"/>
              </a:rPr>
              <a:t>Projet de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3840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9BB8D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